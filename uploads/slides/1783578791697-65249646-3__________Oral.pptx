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65" r:id="rId5"/>
    <p:sldId id="266" r:id="rId6"/>
    <p:sldId id="263" r:id="rId7"/>
    <p:sldId id="267" r:id="rId8"/>
    <p:sldId id="269" r:id="rId9"/>
    <p:sldId id="262" r:id="rId10"/>
    <p:sldId id="270" r:id="rId11"/>
    <p:sldId id="259" r:id="rId12"/>
    <p:sldId id="27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435"/>
    <p:restoredTop sz="74422"/>
  </p:normalViewPr>
  <p:slideViewPr>
    <p:cSldViewPr snapToGrid="0">
      <p:cViewPr varScale="1">
        <p:scale>
          <a:sx n="51" d="100"/>
          <a:sy n="51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92180-7123-7549-841E-10DB6ED1886F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7DB2F3-8EAC-404E-872B-25C88DC31B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593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65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505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4109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019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173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7DB2F3-8EAC-404E-872B-25C88DC31B7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8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70B0D5-A66E-E100-08AC-702EA8519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51BB88-D223-F5AA-EE94-99B194302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FF1F6A-2B7C-00CE-6DF3-026CF10F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F7BF0F-E3AB-0137-8647-6B8FC6BD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EBDF34-B13C-F8B1-450B-9E5B366EB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65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F6281-BB6A-20A8-4C77-2DFDDF82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A05330-3CA0-F34A-A697-FD0BBB599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9E5231-A4FC-357C-9B4A-CCEA73E0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7713A9-1169-3366-2EC9-E891A2967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1AB2BE-55C6-8F7D-784E-03182586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274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64E06-0879-F37C-6628-862BC841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25F400-C857-0245-1E5A-395FE676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D591DB-037D-221A-F98D-034B9F43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52085E-FC5F-6E6B-6CB8-1E8CE3A9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40B054-8BAE-21CE-2D48-AAE122AF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14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B54DA-49FF-41AB-ED3B-B51CF7386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8B4355-F2D1-34EF-EAB6-12304EE29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4A40F7-A34B-927E-3375-7EADDE514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460F61-7AD1-5DC7-4159-EFC130D6C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2743D6-94C9-FB18-5213-F3049008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6ED63B-20A2-4CF3-158B-B1BD4CAD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63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73C7D-E6E4-ECC8-3B7E-75DA241A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545D6A-6351-2388-072E-06BDD2CB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C9C853-8724-10FD-F046-79D9142F8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FC154E-5519-1800-5AD7-F6448D27B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B2A2CD-FDF6-CD4F-4798-0CF155DE8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509BD0-0142-2DC9-BE28-3E528870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87BB3F-C3F7-066F-D107-DEF000EC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48E3FF-B648-D719-4DF1-8D9FD54C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331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A5D838-69C4-81D0-AB84-8021860D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F9A4FB6-71D3-7043-B996-1A926A46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585ED1A-28C3-CE66-5E81-DA619C68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D3936C-97F7-2FEE-C593-EF037CCF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3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7DA047-C183-7AA0-F5D8-785DF61A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E90799F-4B31-8CFE-46AA-642BB583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D83C9B-DFA7-C07C-63CD-3046D33A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65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A2EF2-0369-C56A-CC8C-228CA1E6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0B9312-BF88-19C6-C438-62850D38F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D5D39C-1C16-67C1-C69B-DD30D4657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95B76A-1994-0413-F41A-645710E1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816383-980C-DFB9-7B4D-8E663C4F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0C5347-7F45-3A8D-0344-46199624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61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00FE31-B250-69F6-F76A-2801E6CC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E8411AB-FE83-1F05-A2D5-779F8038D6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E7813E-B7E3-6F31-8A57-FEEAA0F63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2AD393A-8021-7806-7FD2-FA1A2132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C928C2-8574-F3D7-5539-A4367E86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648FD4-E60F-A832-EC04-500E8623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73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AA593-06BE-A2F7-952A-41494469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B1A3D6-1B5E-A7D3-9A5D-6B0D1DF06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2B9971-4A66-B2DD-D130-15435CA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5B2626-8AFF-62B4-B4BD-226857E37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A9591D-C47C-4A89-4A94-5FDE665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031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31A546-4378-DBED-5147-98402FED2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E49397-DF05-4E32-00E9-31CC32345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022FBA-D2C8-1CC1-41FB-4DC77D6A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8A6FFB-33AE-09A7-925B-54127DB2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01FF39-22C5-D077-890E-B35C3D32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994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C5236C-6075-E36E-F44F-5578AA46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96BC1-644F-9696-5B5C-BAFB8F287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A51DDA-00FC-02CF-DEB8-902241EF4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2F201-E6CF-E842-B454-286C5BAA1FEB}" type="datetimeFigureOut">
              <a:rPr kumimoji="1" lang="ja-JP" altLang="en-US" smtClean="0"/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133696-60A5-B2F0-34E0-F6E7E4F24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A9C87E-C13D-8EDC-F8DE-99BBE3736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EE98B-6393-A848-B084-A1BE7304F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666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uP9xNujkNo?start=105&amp;feature=oembed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1145/2501988.250203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proceedings/10.1145/383259" TargetMode="External"/><Relationship Id="rId2" Type="http://schemas.openxmlformats.org/officeDocument/2006/relationships/hyperlink" Target="https://dl.acm.org/doi/10.1145/1276377.127642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9DC044-D42D-8344-2AA6-FDB21BCA4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953" y="1380850"/>
            <a:ext cx="11152094" cy="2387600"/>
          </a:xfrm>
        </p:spPr>
        <p:txBody>
          <a:bodyPr>
            <a:normAutofit/>
          </a:bodyPr>
          <a:lstStyle/>
          <a:p>
            <a:r>
              <a:rPr lang="en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</a:t>
            </a:r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Future of Touchable 3D Displays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C90195-E5EC-DDB9-8AF4-8EE644CE0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5564"/>
            <a:ext cx="9471660" cy="1655762"/>
          </a:xfrm>
        </p:spPr>
        <p:txBody>
          <a:bodyPr>
            <a:noAutofit/>
          </a:bodyPr>
          <a:lstStyle/>
          <a:p>
            <a:endParaRPr lang="en" altLang="ja-JP" sz="3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kumimoji="1" lang="en" altLang="ja-JP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Speaker :Yamada Shota</a:t>
            </a: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419404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0D7832-DCB3-BBFA-7810-1DD07684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-187729"/>
            <a:ext cx="10515600" cy="1325563"/>
          </a:xfrm>
        </p:spPr>
        <p:txBody>
          <a:bodyPr/>
          <a:lstStyle/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 Reason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76207F-C127-409B-28E0-19667D218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38" y="1039546"/>
            <a:ext cx="11353800" cy="4486275"/>
          </a:xfrm>
        </p:spPr>
        <p:txBody>
          <a:bodyPr/>
          <a:lstStyle/>
          <a:p>
            <a:pPr marL="0" indent="0">
              <a:buNone/>
            </a:pPr>
            <a:r>
              <a:rPr lang="en" altLang="ja-JP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displays have great potential</a:t>
            </a:r>
          </a:p>
          <a:p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図 4" descr="男, テレビ, 部屋 が含まれている画像&#10;&#10;自動的に生成された説明">
            <a:extLst>
              <a:ext uri="{FF2B5EF4-FFF2-40B4-BE49-F238E27FC236}">
                <a16:creationId xmlns:a16="http://schemas.microsoft.com/office/drawing/2014/main" id="{5DA446B4-6FCF-1B48-68E5-4D554CDC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663" y="1921076"/>
            <a:ext cx="5969337" cy="4187719"/>
          </a:xfrm>
          <a:prstGeom prst="rect">
            <a:avLst/>
          </a:prstGeom>
        </p:spPr>
      </p:pic>
      <p:pic>
        <p:nvPicPr>
          <p:cNvPr id="7" name="図 6" descr="テーブル, 屋内, 人, 男 が含まれている画像&#10;&#10;自動的に生成された説明">
            <a:extLst>
              <a:ext uri="{FF2B5EF4-FFF2-40B4-BE49-F238E27FC236}">
                <a16:creationId xmlns:a16="http://schemas.microsoft.com/office/drawing/2014/main" id="{AD4BE384-BBAC-988F-1B8C-28FF2C1C5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356" y="1956289"/>
            <a:ext cx="6007694" cy="415250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042018-7E31-D339-CA6B-1C7F54F44B5C}"/>
              </a:ext>
            </a:extLst>
          </p:cNvPr>
          <p:cNvSpPr txBox="1"/>
          <p:nvPr/>
        </p:nvSpPr>
        <p:spPr>
          <a:xfrm>
            <a:off x="1873808" y="6188586"/>
            <a:ext cx="26981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400" dirty="0">
                <a:effectLst/>
                <a:latin typeface="Helvetica Neue" panose="02000503000000020004" pitchFamily="2" charset="0"/>
              </a:rPr>
              <a:t>tactile feedback</a:t>
            </a:r>
          </a:p>
          <a:p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49F87D-01D2-546B-AB01-5ED2610E4052}"/>
              </a:ext>
            </a:extLst>
          </p:cNvPr>
          <p:cNvSpPr txBox="1"/>
          <p:nvPr/>
        </p:nvSpPr>
        <p:spPr>
          <a:xfrm>
            <a:off x="7731878" y="6200307"/>
            <a:ext cx="32028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ja-JP" sz="2400" dirty="0">
                <a:latin typeface="Helvetica Neue" panose="02000503000000020004" pitchFamily="2" charset="0"/>
              </a:rPr>
              <a:t>3D </a:t>
            </a:r>
            <a:r>
              <a:rPr lang="en" altLang="ja-JP" sz="2400" dirty="0">
                <a:effectLst/>
                <a:latin typeface="Helvetica Neue" panose="02000503000000020004" pitchFamily="2" charset="0"/>
              </a:rPr>
              <a:t>visual information</a:t>
            </a:r>
          </a:p>
          <a:p>
            <a:endParaRPr lang="en" altLang="ja-JP" sz="2400" dirty="0">
              <a:effectLst/>
              <a:latin typeface="Helvetica Neue" panose="02000503000000020004" pitchFamily="2" charset="0"/>
            </a:endParaRP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48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13627-E466-728B-E482-946E3FC2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56" y="198523"/>
            <a:ext cx="10515600" cy="1325563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History &amp; Description</a:t>
            </a:r>
            <a:br>
              <a:rPr lang="en" altLang="ja-JP" dirty="0"/>
            </a:b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B1FE98-7BD2-C562-435A-5E4E02249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056" y="1103900"/>
            <a:ext cx="10114280" cy="3548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</a:t>
            </a:r>
            <a:r>
              <a:rPr lang="en" altLang="ja-JP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3D displays</a:t>
            </a:r>
            <a:endParaRPr kumimoji="1" lang="en-US" altLang="ja-JP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ja-JP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・</a:t>
            </a:r>
            <a:r>
              <a:rPr kumimoji="1" lang="en-US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focused on showing  the shape</a:t>
            </a:r>
          </a:p>
          <a:p>
            <a:pPr marL="0" indent="0">
              <a:buNone/>
            </a:pPr>
            <a:endParaRPr lang="en-US" altLang="ja-JP" sz="3200" dirty="0"/>
          </a:p>
        </p:txBody>
      </p:sp>
      <p:pic>
        <p:nvPicPr>
          <p:cNvPr id="7" name="図 6" descr="テーブル, 食品, 作品, 座る が含まれている画像&#10;&#10;自動的に生成された説明">
            <a:extLst>
              <a:ext uri="{FF2B5EF4-FFF2-40B4-BE49-F238E27FC236}">
                <a16:creationId xmlns:a16="http://schemas.microsoft.com/office/drawing/2014/main" id="{8F2486EE-2CE6-4CD7-B8DB-F7637C1C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539" y="198523"/>
            <a:ext cx="4356745" cy="329622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A5BD4B2-72A0-B570-CB5F-387819F5E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359" y="3429000"/>
            <a:ext cx="4731525" cy="3096583"/>
          </a:xfrm>
          <a:prstGeom prst="rect">
            <a:avLst/>
          </a:prstGeom>
        </p:spPr>
      </p:pic>
      <p:sp>
        <p:nvSpPr>
          <p:cNvPr id="4" name="下矢印 3">
            <a:extLst>
              <a:ext uri="{FF2B5EF4-FFF2-40B4-BE49-F238E27FC236}">
                <a16:creationId xmlns:a16="http://schemas.microsoft.com/office/drawing/2014/main" id="{67D95EC1-EE77-455F-30F8-D8F521018BDF}"/>
              </a:ext>
            </a:extLst>
          </p:cNvPr>
          <p:cNvSpPr/>
          <p:nvPr/>
        </p:nvSpPr>
        <p:spPr>
          <a:xfrm>
            <a:off x="2705878" y="2612571"/>
            <a:ext cx="970383" cy="111967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98DC71-5CCA-BFC5-FE73-F89A4672B303}"/>
              </a:ext>
            </a:extLst>
          </p:cNvPr>
          <p:cNvSpPr txBox="1"/>
          <p:nvPr/>
        </p:nvSpPr>
        <p:spPr>
          <a:xfrm>
            <a:off x="568954" y="3884684"/>
            <a:ext cx="621461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4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</a:t>
            </a:r>
            <a:endParaRPr lang="en" altLang="ja-JP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3200" b="1">
                <a:effectLst/>
                <a:latin typeface="Helvetica Neue" panose="02000503000000020004" pitchFamily="2" charset="0"/>
              </a:rPr>
              <a:t>・</a:t>
            </a:r>
            <a:r>
              <a:rPr lang="en" altLang="ja-JP" sz="3200" b="1" dirty="0">
                <a:effectLst/>
                <a:latin typeface="Helvetica Neue" panose="02000503000000020004" pitchFamily="2" charset="0"/>
              </a:rPr>
              <a:t>touchable UI</a:t>
            </a:r>
            <a:r>
              <a:rPr lang="en" altLang="ja-JP" sz="3200" dirty="0">
                <a:effectLst/>
                <a:latin typeface="Helvetica Neue" panose="02000503000000020004" pitchFamily="2" charset="0"/>
              </a:rPr>
              <a:t> and </a:t>
            </a:r>
            <a:r>
              <a:rPr lang="en" altLang="ja-JP" sz="3200" b="1" dirty="0">
                <a:effectLst/>
                <a:latin typeface="Helvetica Neue" panose="02000503000000020004" pitchFamily="2" charset="0"/>
              </a:rPr>
              <a:t>dynamic physical affordances</a:t>
            </a:r>
            <a:endParaRPr lang="en" altLang="ja-JP" sz="3200" dirty="0">
              <a:effectLst/>
              <a:latin typeface="Helvetica Neue" panose="02000503000000020004" pitchFamily="2" charset="0"/>
            </a:endParaRPr>
          </a:p>
          <a:p>
            <a:endParaRPr lang="en" altLang="ja-JP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24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0DF414-A706-2F42-E8EB-6F29BC8B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History &amp; Description</a:t>
            </a:r>
            <a:endParaRPr kumimoji="1" lang="ja-JP" altLang="en-US"/>
          </a:p>
        </p:txBody>
      </p:sp>
      <p:pic>
        <p:nvPicPr>
          <p:cNvPr id="5" name="図 4" descr="ダイアグラム&#10;&#10;自動的に生成された説明">
            <a:extLst>
              <a:ext uri="{FF2B5EF4-FFF2-40B4-BE49-F238E27FC236}">
                <a16:creationId xmlns:a16="http://schemas.microsoft.com/office/drawing/2014/main" id="{011A6FDC-2E3B-36E7-1802-C893893DD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6" y="1670822"/>
            <a:ext cx="11311209" cy="482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652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E0BDC8-1B68-FF78-FB1A-567BAC54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40" y="0"/>
            <a:ext cx="10515600" cy="1325563"/>
          </a:xfrm>
        </p:spPr>
        <p:txBody>
          <a:bodyPr>
            <a:normAutofit/>
          </a:bodyPr>
          <a:lstStyle/>
          <a:p>
            <a:r>
              <a:rPr lang="en" altLang="ja-JP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Procedure</a:t>
            </a:r>
            <a:endParaRPr kumimoji="1" lang="ja-JP" altLang="en-US"/>
          </a:p>
        </p:txBody>
      </p:sp>
      <p:pic>
        <p:nvPicPr>
          <p:cNvPr id="4" name="オンライン メディア 3" descr="inFORM - Interacting With a Dynamic Shape Display">
            <a:hlinkClick r:id="" action="ppaction://media"/>
            <a:extLst>
              <a:ext uri="{FF2B5EF4-FFF2-40B4-BE49-F238E27FC236}">
                <a16:creationId xmlns:a16="http://schemas.microsoft.com/office/drawing/2014/main" id="{F1A38C54-1033-7313-6EA1-8F73A97ADFD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076176" y="992175"/>
            <a:ext cx="10039648" cy="567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3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ダイアグラム&#10;&#10;自動的に生成された説明">
            <a:extLst>
              <a:ext uri="{FF2B5EF4-FFF2-40B4-BE49-F238E27FC236}">
                <a16:creationId xmlns:a16="http://schemas.microsoft.com/office/drawing/2014/main" id="{06EC157C-37B0-4F47-0C41-D207CEDD9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610" y="74536"/>
            <a:ext cx="5820936" cy="642234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65B59E-0ADA-1BBE-D484-65B8AEEA6082}"/>
              </a:ext>
            </a:extLst>
          </p:cNvPr>
          <p:cNvSpPr txBox="1"/>
          <p:nvPr/>
        </p:nvSpPr>
        <p:spPr>
          <a:xfrm>
            <a:off x="588765" y="361119"/>
            <a:ext cx="8882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rtl="0" fontAlgn="base">
              <a:spcBef>
                <a:spcPts val="1300"/>
              </a:spcBef>
              <a:spcAft>
                <a:spcPts val="0"/>
              </a:spcAft>
              <a:buNone/>
            </a:pPr>
            <a:r>
              <a:rPr lang="en" altLang="ja-JP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Features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3FDA8D-5B98-5046-26CB-3493DACF507A}"/>
              </a:ext>
            </a:extLst>
          </p:cNvPr>
          <p:cNvSpPr txBox="1"/>
          <p:nvPr/>
        </p:nvSpPr>
        <p:spPr>
          <a:xfrm>
            <a:off x="-343164" y="1306013"/>
            <a:ext cx="6096000" cy="5960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rtl="0"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Consisting of 30×30 pins and </a:t>
            </a:r>
            <a:r>
              <a:rPr lang="en" altLang="ja-JP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their</a:t>
            </a: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size are 381 × 381mm</a:t>
            </a:r>
            <a:endParaRPr lang="en" altLang="ja-JP" sz="3200" b="0" dirty="0">
              <a:effectLst/>
            </a:endParaRPr>
          </a:p>
          <a:p>
            <a:pPr marL="914400" indent="-457200" rtl="0"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Each pin extends up to 100 mm</a:t>
            </a:r>
            <a:endParaRPr lang="en" altLang="ja-JP" sz="3200" b="0" dirty="0">
              <a:effectLst/>
            </a:endParaRPr>
          </a:p>
          <a:p>
            <a:pPr marL="914400" indent="-457200" rtl="0"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Each pin is moved by the actuator located below it</a:t>
            </a:r>
            <a:endParaRPr lang="en" altLang="ja-JP" sz="3200" b="0" dirty="0">
              <a:effectLst/>
            </a:endParaRPr>
          </a:p>
          <a:p>
            <a:pPr marL="914400" indent="-457200" rtl="0"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altLang="ja-JP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ot only does it move the pin, but </a:t>
            </a:r>
            <a:r>
              <a:rPr lang="en" altLang="ja-JP" sz="3200" b="0" i="0" u="sng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it also tells you where it is</a:t>
            </a:r>
            <a:endParaRPr lang="en" altLang="ja-JP" sz="3200" b="0" u="sng" dirty="0">
              <a:solidFill>
                <a:srgbClr val="FF0000"/>
              </a:solidFill>
              <a:effectLst/>
            </a:endParaRPr>
          </a:p>
          <a:p>
            <a:pPr marL="457200" rtl="0">
              <a:spcBef>
                <a:spcPts val="1300"/>
              </a:spcBef>
              <a:spcAft>
                <a:spcPts val="0"/>
              </a:spcAft>
            </a:pPr>
            <a:br>
              <a:rPr lang="en" altLang="ja-JP" sz="3200" dirty="0"/>
            </a:br>
            <a:endParaRPr kumimoji="1" lang="ja-JP" altLang="en-US" sz="320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82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8C641C-45CC-BDE7-0ED7-D35D0B14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6" y="153192"/>
            <a:ext cx="10515600" cy="1325563"/>
          </a:xfrm>
        </p:spPr>
        <p:txBody>
          <a:bodyPr/>
          <a:lstStyle/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493959-1A28-1B84-FC46-83DDFD3C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98" y="1722595"/>
            <a:ext cx="5430894" cy="4351338"/>
          </a:xfrm>
        </p:spPr>
        <p:txBody>
          <a:bodyPr/>
          <a:lstStyle/>
          <a:p>
            <a:pPr marL="0" indent="0">
              <a:buNone/>
            </a:pPr>
            <a:r>
              <a:rPr lang="e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Dynamic Physical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can appear only when needed </a:t>
            </a:r>
          </a:p>
          <a:p>
            <a:pPr marL="0" indent="0">
              <a:buNone/>
            </a:pPr>
            <a:endParaRPr lang="en" altLang="ja-JP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Interactive Surfaces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Surfaces change shape depending on user actions.</a:t>
            </a:r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4" name="図 3" descr="ダイアグラム&#10;&#10;中程度の精度で自動的に生成された説明">
            <a:extLst>
              <a:ext uri="{FF2B5EF4-FFF2-40B4-BE49-F238E27FC236}">
                <a16:creationId xmlns:a16="http://schemas.microsoft.com/office/drawing/2014/main" id="{2B889BB0-0077-33D0-B014-7C0ECC34ED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" t="-1" r="50094" b="14688"/>
          <a:stretch/>
        </p:blipFill>
        <p:spPr>
          <a:xfrm>
            <a:off x="5129562" y="-1"/>
            <a:ext cx="6523104" cy="3732733"/>
          </a:xfrm>
          <a:prstGeom prst="rect">
            <a:avLst/>
          </a:prstGeom>
        </p:spPr>
      </p:pic>
      <p:pic>
        <p:nvPicPr>
          <p:cNvPr id="6" name="図 5" descr="ケーキを切る手&#10;&#10;自動的に生成された説明">
            <a:extLst>
              <a:ext uri="{FF2B5EF4-FFF2-40B4-BE49-F238E27FC236}">
                <a16:creationId xmlns:a16="http://schemas.microsoft.com/office/drawing/2014/main" id="{723E43DA-8871-62E1-6968-2A1CC4DC1D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2" r="12671" b="17261"/>
          <a:stretch/>
        </p:blipFill>
        <p:spPr>
          <a:xfrm>
            <a:off x="5330284" y="3732732"/>
            <a:ext cx="6015840" cy="302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4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8C641C-45CC-BDE7-0ED7-D35D0B14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36" y="153192"/>
            <a:ext cx="10515600" cy="1325563"/>
          </a:xfrm>
        </p:spPr>
        <p:txBody>
          <a:bodyPr/>
          <a:lstStyle/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493959-1A28-1B84-FC46-83DDFD3C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09" y="1478755"/>
            <a:ext cx="512658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Dynamic Constraints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or restrict object movement. </a:t>
            </a:r>
          </a:p>
          <a:p>
            <a:pPr marL="0" indent="0">
              <a:buNone/>
            </a:pPr>
            <a:endParaRPr lang="en" altLang="ja-JP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Remote Physical Interaction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objects or movements from a distant location. </a:t>
            </a:r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 descr="ダイアグラム&#10;&#10;中程度の精度で自動的に生成された説明">
            <a:extLst>
              <a:ext uri="{FF2B5EF4-FFF2-40B4-BE49-F238E27FC236}">
                <a16:creationId xmlns:a16="http://schemas.microsoft.com/office/drawing/2014/main" id="{72B3D8F7-96FA-4B19-E121-9A3791325E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502" t="-2676" r="95" b="16376"/>
          <a:stretch/>
        </p:blipFill>
        <p:spPr>
          <a:xfrm>
            <a:off x="5374888" y="-187940"/>
            <a:ext cx="5977053" cy="3721875"/>
          </a:xfrm>
          <a:prstGeom prst="rect">
            <a:avLst/>
          </a:prstGeom>
        </p:spPr>
      </p:pic>
      <p:pic>
        <p:nvPicPr>
          <p:cNvPr id="8" name="図 7" descr="屋内, テーブル, 男, モニター が含まれている画像&#10;&#10;自動的に生成された説明">
            <a:extLst>
              <a:ext uri="{FF2B5EF4-FFF2-40B4-BE49-F238E27FC236}">
                <a16:creationId xmlns:a16="http://schemas.microsoft.com/office/drawing/2014/main" id="{EB6988D9-0E86-27D6-FC8B-DDDE7EC411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18" t="8296" r="7198" b="21808"/>
          <a:stretch/>
        </p:blipFill>
        <p:spPr>
          <a:xfrm>
            <a:off x="4998838" y="3429000"/>
            <a:ext cx="3368537" cy="3428999"/>
          </a:xfrm>
          <a:prstGeom prst="rect">
            <a:avLst/>
          </a:prstGeom>
        </p:spPr>
      </p:pic>
      <p:pic>
        <p:nvPicPr>
          <p:cNvPr id="10" name="図 9" descr="電話をしている男性&#10;&#10;中程度の精度で自動的に生成された説明">
            <a:extLst>
              <a:ext uri="{FF2B5EF4-FFF2-40B4-BE49-F238E27FC236}">
                <a16:creationId xmlns:a16="http://schemas.microsoft.com/office/drawing/2014/main" id="{76597113-07BA-71EE-7331-99117BB1CB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401" t="8962" r="13672" b="12795"/>
          <a:stretch/>
        </p:blipFill>
        <p:spPr>
          <a:xfrm>
            <a:off x="8453868" y="3722917"/>
            <a:ext cx="3738132" cy="304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角丸四角形吹き出し 17">
            <a:extLst>
              <a:ext uri="{FF2B5EF4-FFF2-40B4-BE49-F238E27FC236}">
                <a16:creationId xmlns:a16="http://schemas.microsoft.com/office/drawing/2014/main" id="{4ECE289C-3C19-388C-7B77-813503366945}"/>
              </a:ext>
            </a:extLst>
          </p:cNvPr>
          <p:cNvSpPr/>
          <p:nvPr/>
        </p:nvSpPr>
        <p:spPr>
          <a:xfrm>
            <a:off x="4871596" y="610975"/>
            <a:ext cx="2378468" cy="1616585"/>
          </a:xfrm>
          <a:prstGeom prst="wedgeRoundRectCallout">
            <a:avLst>
              <a:gd name="adj1" fmla="val 53244"/>
              <a:gd name="adj2" fmla="val 63880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6A55120-29C0-6FFE-B19F-FEAD1A61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28" y="235948"/>
            <a:ext cx="10515600" cy="1325563"/>
          </a:xfrm>
        </p:spPr>
        <p:txBody>
          <a:bodyPr/>
          <a:lstStyle/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Society</a:t>
            </a:r>
            <a:br>
              <a:rPr lang="en" altLang="ja-JP" b="0" dirty="0">
                <a:effectLst/>
              </a:rPr>
            </a:br>
            <a:endParaRPr kumimoji="1" lang="ja-JP" altLang="en-US"/>
          </a:p>
        </p:txBody>
      </p:sp>
      <p:pic>
        <p:nvPicPr>
          <p:cNvPr id="5" name="図 4" descr="人, 屋内, 男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1E1D1AB3-48BC-2B53-F320-6991492CB6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83" r="9124" b="872"/>
          <a:stretch/>
        </p:blipFill>
        <p:spPr>
          <a:xfrm>
            <a:off x="7314332" y="289931"/>
            <a:ext cx="4502439" cy="3166947"/>
          </a:xfrm>
          <a:prstGeom prst="rect">
            <a:avLst/>
          </a:prstGeom>
        </p:spPr>
      </p:pic>
      <p:pic>
        <p:nvPicPr>
          <p:cNvPr id="9" name="図 8" descr="人, 男, 屋内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6402CEF1-7FE8-5486-11CF-2F8B1D928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63" y="1303472"/>
            <a:ext cx="4348107" cy="356804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2DE4F38-A759-A099-CFE2-BC17ABC969C7}"/>
              </a:ext>
            </a:extLst>
          </p:cNvPr>
          <p:cNvSpPr txBox="1"/>
          <p:nvPr/>
        </p:nvSpPr>
        <p:spPr>
          <a:xfrm>
            <a:off x="126170" y="5554528"/>
            <a:ext cx="45989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intuitive human-computer interaction </a:t>
            </a:r>
          </a:p>
          <a:p>
            <a:endParaRPr lang="en" altLang="ja-JP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BA5D72F-8454-E967-3B54-D9028D6D0A3F}"/>
              </a:ext>
            </a:extLst>
          </p:cNvPr>
          <p:cNvSpPr txBox="1"/>
          <p:nvPr/>
        </p:nvSpPr>
        <p:spPr>
          <a:xfrm>
            <a:off x="4906766" y="726769"/>
            <a:ext cx="23081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ways of remote collaboration</a:t>
            </a:r>
          </a:p>
        </p:txBody>
      </p:sp>
      <p:pic>
        <p:nvPicPr>
          <p:cNvPr id="15" name="図 14" descr="テーブル, 食品, トッピング, 座る が含まれている画像&#10;&#10;自動的に生成された説明">
            <a:extLst>
              <a:ext uri="{FF2B5EF4-FFF2-40B4-BE49-F238E27FC236}">
                <a16:creationId xmlns:a16="http://schemas.microsoft.com/office/drawing/2014/main" id="{E082A368-AD2A-4926-EA75-E77EA8340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953" y="3722637"/>
            <a:ext cx="4348107" cy="318925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A54E0E4-9F23-027C-5052-1D8510F45FBB}"/>
              </a:ext>
            </a:extLst>
          </p:cNvPr>
          <p:cNvSpPr txBox="1"/>
          <p:nvPr/>
        </p:nvSpPr>
        <p:spPr>
          <a:xfrm>
            <a:off x="4769655" y="3954090"/>
            <a:ext cx="23081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education and training systems </a:t>
            </a:r>
            <a:endParaRPr lang="ja-JP" altLang="en-US" sz="2800"/>
          </a:p>
        </p:txBody>
      </p:sp>
      <p:sp>
        <p:nvSpPr>
          <p:cNvPr id="20" name="角丸四角形吹き出し 19">
            <a:extLst>
              <a:ext uri="{FF2B5EF4-FFF2-40B4-BE49-F238E27FC236}">
                <a16:creationId xmlns:a16="http://schemas.microsoft.com/office/drawing/2014/main" id="{26A4FB72-087A-AE49-A94A-E2D69D877C49}"/>
              </a:ext>
            </a:extLst>
          </p:cNvPr>
          <p:cNvSpPr/>
          <p:nvPr/>
        </p:nvSpPr>
        <p:spPr>
          <a:xfrm>
            <a:off x="4694527" y="3954090"/>
            <a:ext cx="2458383" cy="1815881"/>
          </a:xfrm>
          <a:prstGeom prst="wedgeRoundRectCallout">
            <a:avLst>
              <a:gd name="adj1" fmla="val 53244"/>
              <a:gd name="adj2" fmla="val 63880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角丸四角形吹き出し 20">
            <a:extLst>
              <a:ext uri="{FF2B5EF4-FFF2-40B4-BE49-F238E27FC236}">
                <a16:creationId xmlns:a16="http://schemas.microsoft.com/office/drawing/2014/main" id="{936C97F8-1C38-1E32-9FF9-8D4BB59C89CB}"/>
              </a:ext>
            </a:extLst>
          </p:cNvPr>
          <p:cNvSpPr/>
          <p:nvPr/>
        </p:nvSpPr>
        <p:spPr>
          <a:xfrm>
            <a:off x="386942" y="5415236"/>
            <a:ext cx="4077415" cy="1193795"/>
          </a:xfrm>
          <a:prstGeom prst="wedgeRoundRectCallout">
            <a:avLst>
              <a:gd name="adj1" fmla="val 2922"/>
              <a:gd name="adj2" fmla="val -81839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34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BCA547-FB43-D868-3D2C-038E1B3CE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336" y="0"/>
            <a:ext cx="10515600" cy="1325563"/>
          </a:xfrm>
        </p:spPr>
        <p:txBody>
          <a:bodyPr/>
          <a:lstStyle/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1" lang="ja-JP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340D5F-78F5-E4B1-0A95-97D503FBD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335" y="1325563"/>
            <a:ext cx="5837665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ja-JP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</a:t>
            </a:r>
            <a:r>
              <a:rPr lang="en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digital and physical.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both see and touch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ja-JP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the future of tangible interfaces. </a:t>
            </a:r>
          </a:p>
          <a:p>
            <a:pPr marL="0" indent="0">
              <a:buNone/>
            </a:pPr>
            <a:endParaRPr kumimoji="1" lang="ja-JP" altLang="en-US"/>
          </a:p>
        </p:txBody>
      </p:sp>
      <p:pic>
        <p:nvPicPr>
          <p:cNvPr id="5" name="図 4" descr="屋内, テーブル, キーボード, リンゴ が含まれている画像&#10;&#10;自動的に生成された説明">
            <a:extLst>
              <a:ext uri="{FF2B5EF4-FFF2-40B4-BE49-F238E27FC236}">
                <a16:creationId xmlns:a16="http://schemas.microsoft.com/office/drawing/2014/main" id="{4B19C5AF-469F-7C49-3323-F224987D0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779" y="0"/>
            <a:ext cx="6127221" cy="3267307"/>
          </a:xfrm>
          <a:prstGeom prst="rect">
            <a:avLst/>
          </a:prstGeom>
        </p:spPr>
      </p:pic>
      <p:pic>
        <p:nvPicPr>
          <p:cNvPr id="7" name="図 6" descr="文房具, 食品 が含まれている画像&#10;&#10;自動的に生成された説明">
            <a:extLst>
              <a:ext uri="{FF2B5EF4-FFF2-40B4-BE49-F238E27FC236}">
                <a16:creationId xmlns:a16="http://schemas.microsoft.com/office/drawing/2014/main" id="{333EB4C5-D3A6-84D8-ABDA-62449583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449" y="3267307"/>
            <a:ext cx="4899102" cy="380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72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38E57-D436-6851-56E1-9C0F58F8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69557"/>
            <a:ext cx="10515600" cy="1325563"/>
          </a:xfrm>
        </p:spPr>
        <p:txBody>
          <a:bodyPr>
            <a:normAutofit/>
          </a:bodyPr>
          <a:lstStyle/>
          <a:p>
            <a:pPr rtl="0">
              <a:spcBef>
                <a:spcPts val="1300"/>
              </a:spcBef>
              <a:spcAft>
                <a:spcPts val="0"/>
              </a:spcAft>
            </a:pPr>
            <a:r>
              <a:rPr lang="en" altLang="ja-JP" sz="4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Information source</a:t>
            </a:r>
            <a:endParaRPr kumimoji="1" lang="ja-JP" altLang="en-US" sz="400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E965AC-5752-CE23-D323-A6C59A9D7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842" y="1595120"/>
            <a:ext cx="10708758" cy="4351338"/>
          </a:xfrm>
        </p:spPr>
        <p:txBody>
          <a:bodyPr>
            <a:noAutofit/>
          </a:bodyPr>
          <a:lstStyle/>
          <a:p>
            <a:pPr marL="514350" indent="-514350" rtl="0" fontAlgn="base">
              <a:spcBef>
                <a:spcPts val="1300"/>
              </a:spcBef>
              <a:spcAft>
                <a:spcPts val="0"/>
              </a:spcAft>
              <a:buAutoNum type="alphaUcPeriod"/>
            </a:pPr>
            <a:r>
              <a:rPr lang="en" altLang="ja-JP" sz="32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inFORM</a:t>
            </a: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Dynamic Physical Affordances and Constraints through Shape and Object Actuation ,UIST 2013</a:t>
            </a:r>
            <a:r>
              <a:rPr lang="en" altLang="ja-JP" sz="3200" dirty="0"/>
              <a:t>,</a:t>
            </a: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Page numbers: 417,423&amp;424</a:t>
            </a:r>
            <a:r>
              <a:rPr lang="en" altLang="ja-JP" sz="3200" dirty="0"/>
              <a:t>,</a:t>
            </a:r>
            <a:r>
              <a:rPr lang="en" altLang="ja-JP" sz="3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URL: </a:t>
            </a:r>
            <a:r>
              <a:rPr lang="en" altLang="ja-JP" sz="32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https://dl.acm.org/doi/abs/10.1145/2501988.2502032</a:t>
            </a:r>
            <a:endParaRPr lang="en" altLang="ja-JP" sz="3200" b="0" dirty="0">
              <a:effectLst/>
            </a:endParaRPr>
          </a:p>
          <a:p>
            <a:pPr marL="0" indent="0">
              <a:buNone/>
            </a:pPr>
            <a:br>
              <a:rPr lang="en" altLang="ja-JP" sz="3200" dirty="0"/>
            </a:br>
            <a:r>
              <a:rPr lang="en" altLang="ja-JP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B,hapticbots:</a:t>
            </a:r>
            <a:r>
              <a:rPr lang="en" altLang="ja-JP" sz="320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" altLang="ja-JP" sz="32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Encountered-type Haptics for VR with Multiple Shape-changing Mobile Robots,UIST2021, </a:t>
            </a:r>
            <a:r>
              <a:rPr lang="en" altLang="ja-JP" sz="320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URL:https</a:t>
            </a:r>
            <a:r>
              <a:rPr lang="en" altLang="ja-JP" sz="32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" altLang="ja-JP" sz="320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dl.acm.org</a:t>
            </a:r>
            <a:r>
              <a:rPr lang="en" altLang="ja-JP" sz="32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altLang="ja-JP" sz="320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" altLang="ja-JP" sz="32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/10.1145/3472749.3474821?cid=81319495312</a:t>
            </a:r>
          </a:p>
          <a:p>
            <a:pPr marL="0" indent="0">
              <a:buNone/>
            </a:pPr>
            <a:endParaRPr kumimoji="1"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3032504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76D962-9BA8-8FFC-6B71-59102906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" altLang="ja-JP" sz="4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Information source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4A7648-A82F-B4AB-830A-032CDDBD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266" y="1098453"/>
            <a:ext cx="10515600" cy="5032375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</a:t>
            </a:r>
            <a:r>
              <a:rPr lang="en" altLang="ja-JP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Rendering for an interactive 360° light field display, TOG Volume 26 Issue3, URL: </a:t>
            </a:r>
            <a:r>
              <a:rPr lang="en" altLang="ja-JP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https://dl.acm.org/doi/10.1145/1276377.1276427</a:t>
            </a:r>
            <a:endParaRPr lang="en" altLang="ja-JP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" altLang="ja-JP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ja-JP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D, Relief: A </a:t>
            </a:r>
            <a:r>
              <a:rPr lang="en" altLang="ja-JP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scalabale</a:t>
            </a:r>
            <a:r>
              <a:rPr lang="en" altLang="ja-JP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Actuated Shaped Display, </a:t>
            </a:r>
            <a:r>
              <a:rPr lang="en" altLang="ja-JP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4th International Conference on Tangible and Embedded Interaction 2010, URL: https://</a:t>
            </a:r>
            <a:r>
              <a:rPr lang="en" altLang="ja-JP" b="0" i="0" dirty="0" err="1">
                <a:solidFill>
                  <a:srgbClr val="55555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www.researchgate.net</a:t>
            </a:r>
            <a:r>
              <a:rPr lang="en" altLang="ja-JP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/publication/221308622_Relief_A_Scalable_Actuated_Shape_Display</a:t>
            </a:r>
          </a:p>
          <a:p>
            <a:pPr algn="l"/>
            <a:endParaRPr lang="en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lang="en" altLang="ja-JP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Project FEELEX: adding haptic surface to graphics, </a:t>
            </a:r>
            <a:r>
              <a:rPr lang="en" altLang="ja-JP" b="0" i="0" u="sng" dirty="0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SIGGRAPH '01: Proceedings of the 28th annual conference on Computer graphics and interactive techniques</a:t>
            </a:r>
            <a:r>
              <a:rPr lang="en" altLang="ja-JP" b="0" i="0" u="sng" dirty="0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URL: https://</a:t>
            </a:r>
            <a:r>
              <a:rPr lang="en" altLang="ja-JP" b="0" i="0" u="sng" dirty="0" err="1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dl.acm.org</a:t>
            </a:r>
            <a:r>
              <a:rPr lang="en" altLang="ja-JP" b="0" i="0" u="sng" dirty="0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altLang="ja-JP" b="0" i="0" u="sng" dirty="0" err="1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" altLang="ja-JP" b="0" i="0" u="sng" dirty="0">
                <a:solidFill>
                  <a:srgbClr val="0071B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/10.1145/383259.383314</a:t>
            </a:r>
            <a:br>
              <a:rPr lang="en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" altLang="ja-JP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6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6507</TotalTime>
  <Words>392</Words>
  <Application>Microsoft Macintosh PowerPoint</Application>
  <PresentationFormat>ワイド画面</PresentationFormat>
  <Paragraphs>55</Paragraphs>
  <Slides>12</Slides>
  <Notes>6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游ゴシック</vt:lpstr>
      <vt:lpstr>游ゴシック Light</vt:lpstr>
      <vt:lpstr>Arial</vt:lpstr>
      <vt:lpstr>Helvetica Neue</vt:lpstr>
      <vt:lpstr>Times New Roman</vt:lpstr>
      <vt:lpstr>Office テーマ</vt:lpstr>
      <vt:lpstr>inFORM: The Future of Touchable 3D Displays</vt:lpstr>
      <vt:lpstr>Introduction / Reason</vt:lpstr>
      <vt:lpstr>1. History &amp; Description </vt:lpstr>
      <vt:lpstr>1. History &amp; Description</vt:lpstr>
      <vt:lpstr>Procedure</vt:lpstr>
      <vt:lpstr>PowerPoint プレゼンテーション</vt:lpstr>
      <vt:lpstr>Applications</vt:lpstr>
      <vt:lpstr>Applications</vt:lpstr>
      <vt:lpstr>Impact on Society </vt:lpstr>
      <vt:lpstr>Conclusion</vt:lpstr>
      <vt:lpstr>Information source</vt:lpstr>
      <vt:lpstr>Information source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y2411757</dc:creator>
  <cp:lastModifiedBy>y2411757</cp:lastModifiedBy>
  <cp:revision>9</cp:revision>
  <dcterms:created xsi:type="dcterms:W3CDTF">2026-05-14T00:24:54Z</dcterms:created>
  <dcterms:modified xsi:type="dcterms:W3CDTF">2026-07-09T04:34:52Z</dcterms:modified>
</cp:coreProperties>
</file>